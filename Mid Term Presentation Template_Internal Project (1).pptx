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59" r:id="rId18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2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2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29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6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5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9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4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355976-DE5B-41C8-9AEE-0426DE0BEE1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929-8126-6D5E-DBC8-026598A17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971" y="2014480"/>
            <a:ext cx="12415087" cy="981073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Developing an Ensemble Model for Detecting Infant Cries, Screams, and Normal Utterances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373" y="4503900"/>
            <a:ext cx="10058400" cy="1143000"/>
          </a:xfrm>
        </p:spPr>
        <p:txBody>
          <a:bodyPr>
            <a:normAutofit fontScale="25000" lnSpcReduction="20000"/>
          </a:bodyPr>
          <a:lstStyle/>
          <a:p>
            <a:r>
              <a:rPr lang="en-US" sz="4400" b="1" dirty="0" err="1"/>
              <a:t>aarushi</a:t>
            </a:r>
            <a:r>
              <a:rPr lang="en-US" sz="4400" b="1" dirty="0"/>
              <a:t> Garg</a:t>
            </a:r>
          </a:p>
          <a:p>
            <a:pPr>
              <a:spcBef>
                <a:spcPts val="0"/>
              </a:spcBef>
            </a:pPr>
            <a:r>
              <a:rPr lang="en-IN" sz="4400" dirty="0"/>
              <a:t>Computer Science &amp; Engineering (Artificial Intelligence) </a:t>
            </a:r>
            <a:endParaRPr lang="en-US" sz="4400" dirty="0"/>
          </a:p>
          <a:p>
            <a:pPr>
              <a:spcBef>
                <a:spcPts val="0"/>
              </a:spcBef>
            </a:pPr>
            <a:r>
              <a:rPr lang="en-US" sz="4400" dirty="0"/>
              <a:t>225890388</a:t>
            </a:r>
          </a:p>
          <a:p>
            <a:r>
              <a:rPr lang="en-US" sz="4400" dirty="0"/>
              <a:t>Under Supervision </a:t>
            </a:r>
          </a:p>
          <a:p>
            <a:r>
              <a:rPr lang="en-IN" sz="4400" b="1" dirty="0"/>
              <a:t>Dr. Lijo M Jose </a:t>
            </a:r>
          </a:p>
          <a:p>
            <a:pPr>
              <a:spcBef>
                <a:spcPts val="0"/>
              </a:spcBef>
            </a:pPr>
            <a:r>
              <a:rPr lang="en-US" sz="4400" dirty="0"/>
              <a:t>Assistant Professor, </a:t>
            </a:r>
          </a:p>
          <a:p>
            <a:pPr>
              <a:spcBef>
                <a:spcPts val="0"/>
              </a:spcBef>
            </a:pPr>
            <a:r>
              <a:rPr lang="en-US" sz="4400" dirty="0"/>
              <a:t>Department of Computer Science &amp; Engineering, </a:t>
            </a:r>
          </a:p>
          <a:p>
            <a:pPr>
              <a:spcBef>
                <a:spcPts val="0"/>
              </a:spcBef>
            </a:pPr>
            <a:r>
              <a:rPr lang="en-US" sz="4400" dirty="0"/>
              <a:t>Manipal Institute of Technology, Bengaluru </a:t>
            </a:r>
            <a:endParaRPr lang="en-US" sz="4400" b="1" dirty="0"/>
          </a:p>
          <a:p>
            <a:endParaRPr lang="en-US" dirty="0"/>
          </a:p>
        </p:txBody>
      </p:sp>
      <p:pic>
        <p:nvPicPr>
          <p:cNvPr id="1027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DD76A44-6552-A47A-D46F-6102A5B6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FE461C-3DDE-807D-631A-DFF092E23443}"/>
              </a:ext>
            </a:extLst>
          </p:cNvPr>
          <p:cNvSpPr txBox="1"/>
          <p:nvPr/>
        </p:nvSpPr>
        <p:spPr>
          <a:xfrm>
            <a:off x="4327036" y="3151048"/>
            <a:ext cx="3299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Exam: Mid Sem Exam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FD27-0C71-B6CD-B2AC-8AAF1E7E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List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0D84-822D-02BC-CDF3-7B9D2A52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974364"/>
            <a:ext cx="10364452" cy="5495926"/>
          </a:xfrm>
        </p:spPr>
        <p:txBody>
          <a:bodyPr>
            <a:norm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Introduction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Literature Review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Proposed Solution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Methodology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Experimental Setup &amp; Dataset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Implementation &amp; Features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Results &amp; Analysis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Challenges &amp; Limitations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Conclusion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References</a:t>
            </a:r>
          </a:p>
          <a:p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DC31D46-8781-3C2C-C6D6-B6C0BEA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9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D6CA-7999-D7ED-E03C-DA1E52F9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BBE3-07BF-02EA-ECC3-F0A24926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IN" dirty="0"/>
              <a:t>Introduction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D98FD32-5A2D-B0F0-0F9D-D1A3211AD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C6DCA1B-FBBC-2E41-3CA5-044186E5F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1661441"/>
            <a:ext cx="1101659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Infant vocalization analysis is a critical challenge in automated healthcare monitoring systems. Traditional audio classification models often function as non-interpretable classifiers, susceptible to environmental overfitting, where predictions are influenced by background noise or recording artifacts rather than true acoustic distress signals.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There is a clear need to design a system that ensures robust and context-aware feature learning, especially under conditions of limited and imbalanced datasets.</a:t>
            </a:r>
          </a:p>
          <a:p>
            <a:r>
              <a:rPr lang="en-US" sz="2400" b="1" dirty="0"/>
              <a:t>Objectives: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Develop a dual-stream ensemble framework combining acoustic and contextual representations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Improve classification performance across cry, scream, and normal classes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Mitigate overfitting and improve generalization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37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B792-5D69-621F-2EF5-7CA16C99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5603-9AB4-2B86-5519-8BCB285B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IN" dirty="0"/>
              <a:t>Literature Review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52E8BA0-5D49-1C1C-C904-EBF34520D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865C092-3BEF-91AC-1999-23847EFE1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1846964"/>
            <a:ext cx="1109700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/>
              <a:t>Pretrained models such as </a:t>
            </a:r>
            <a:r>
              <a:rPr lang="en-US" sz="2400" dirty="0" err="1"/>
              <a:t>YAMNet</a:t>
            </a:r>
            <a:r>
              <a:rPr lang="en-US" sz="2400" dirty="0"/>
              <a:t> provide robust acoustic embeddings for general audio event detection, while Wav2Vec2 enables deep contextual representation learning through self-supervised speech modeling.</a:t>
            </a:r>
          </a:p>
          <a:p>
            <a:pPr algn="just">
              <a:lnSpc>
                <a:spcPct val="200000"/>
              </a:lnSpc>
            </a:pPr>
            <a:r>
              <a:rPr lang="en-US" sz="2400" dirty="0"/>
              <a:t>However, existing approaches face critical limitations: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Acoustic models lack temporal depth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Speech models are prone to overfitting on small datasets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Traditional pipelines fail to integrate multiple feature representations effectively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Recent studies suggest that ensemble learning frameworks significantly improve robustness by combining complementary model strengths.</a:t>
            </a:r>
          </a:p>
        </p:txBody>
      </p:sp>
    </p:spTree>
    <p:extLst>
      <p:ext uri="{BB962C8B-B14F-4D97-AF65-F5344CB8AC3E}">
        <p14:creationId xmlns:p14="http://schemas.microsoft.com/office/powerpoint/2010/main" val="113491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5D4E-0952-9014-78F3-0AC736C8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A764-9D46-0AA3-1BFA-3B35BCE1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IN" dirty="0"/>
              <a:t>Literature Review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99D7297-7537-42A2-46C3-D092F7298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A469063-6E8D-A031-CEB7-F6BA8ACFB7A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1050" y="2926450"/>
            <a:ext cx="11333584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Problem:</a:t>
            </a:r>
            <a:r>
              <a:rPr lang="en-US" sz="24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How can we effectively combine broad acoustic embeddings and deep contextual speech representations to improve classification accuracy and reduce overfitting in infant audio classification under limited data conditions?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550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0ED3-8EB8-A8B2-6EA4-C488AE3D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B035-964E-AC28-5A29-4DA253627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3.</a:t>
            </a:r>
            <a:r>
              <a:rPr lang="en-IN" dirty="0"/>
              <a:t> Proposed Solution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87DA33C-D6FB-522B-4B57-63C907910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CDF7C8D-2100-D25A-92B8-2E12B6396F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1050" y="1753881"/>
            <a:ext cx="11333584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We propose a Dual-Stream Ensemble Framework that reframes audio classification as a multi-representational feature fusion task.</a:t>
            </a:r>
          </a:p>
          <a:p>
            <a:pPr>
              <a:spcBef>
                <a:spcPts val="600"/>
              </a:spcBef>
            </a:pPr>
            <a:endParaRPr lang="en-US" sz="2400" dirty="0"/>
          </a:p>
          <a:p>
            <a:r>
              <a:rPr lang="en-US" sz="2400" dirty="0"/>
              <a:t>Instead of relying on a single model, the system leverages two complementary feature extraction approaches: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YAMNet</a:t>
            </a:r>
            <a:r>
              <a:rPr lang="en-US" sz="2400" dirty="0"/>
              <a:t> is used to capture high-level acoustic patterns by generating 1024-dimensional 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Wav2Vec2 is used to learn deep temporal and contextual speech representations</a:t>
            </a:r>
          </a:p>
          <a:p>
            <a:endParaRPr lang="en-US" sz="2400" dirty="0"/>
          </a:p>
          <a:p>
            <a:r>
              <a:rPr lang="en-US" sz="2400" dirty="0"/>
              <a:t>These two outputs are then combined using a weighted ensemble mechanism to produce the final prediction.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2674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0E86-1180-3000-2912-5245F2B0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F222-0CBB-643F-4926-C0690A5C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4.</a:t>
            </a:r>
            <a:r>
              <a:rPr lang="en-IN" dirty="0"/>
              <a:t> Methodology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5A41C66-A8A9-A8C4-CB55-4E2B19114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7369673-97B3-24DE-C7D4-641652F8880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1362" y="1724216"/>
            <a:ext cx="11333584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300" b="1" dirty="0"/>
              <a:t>Data Preprocessing:</a:t>
            </a:r>
            <a:endParaRPr lang="en-IN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Resample audio to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Standardize input length</a:t>
            </a:r>
          </a:p>
          <a:p>
            <a:r>
              <a:rPr lang="en-IN" sz="2300" b="1" dirty="0"/>
              <a:t>Feature Extraction:</a:t>
            </a:r>
            <a:endParaRPr lang="en-IN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 err="1"/>
              <a:t>YAMNet</a:t>
            </a:r>
            <a:r>
              <a:rPr lang="en-IN" sz="2300" dirty="0"/>
              <a:t> → global 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Wav2Vec2 → contextual logits</a:t>
            </a:r>
          </a:p>
          <a:p>
            <a:r>
              <a:rPr lang="en-IN" sz="2300" b="1" dirty="0" err="1"/>
              <a:t>Modeling</a:t>
            </a:r>
            <a:r>
              <a:rPr lang="en-IN" sz="2300" b="1" dirty="0"/>
              <a:t>:</a:t>
            </a:r>
            <a:endParaRPr lang="en-IN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Train MLP classifier on </a:t>
            </a:r>
            <a:r>
              <a:rPr lang="en-IN" sz="2300" dirty="0" err="1"/>
              <a:t>YAMNet</a:t>
            </a:r>
            <a:r>
              <a:rPr lang="en-IN" sz="2300" dirty="0"/>
              <a:t> 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Fine-tune Wav2Vec2</a:t>
            </a:r>
          </a:p>
          <a:p>
            <a:r>
              <a:rPr lang="en-IN" sz="2300" b="1" dirty="0"/>
              <a:t>Ensemble Integration:</a:t>
            </a:r>
            <a:endParaRPr lang="en-IN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Weighted fusion: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0.4 → </a:t>
            </a:r>
            <a:r>
              <a:rPr lang="en-IN" sz="2300" dirty="0" err="1"/>
              <a:t>YAMNet</a:t>
            </a:r>
            <a:endParaRPr lang="en-IN" sz="23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300" dirty="0"/>
              <a:t>0.6 → Wav2Vec2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247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52BBF-D5BC-8303-A21D-04466223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21AD-9E3B-F3AE-FE02-EEBDE94D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4.</a:t>
            </a:r>
            <a:r>
              <a:rPr lang="en-IN" dirty="0"/>
              <a:t> Methodology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13EA047-FFED-A604-6ED1-40635B9E1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3B6B53-0F62-DBC2-DD9B-4252BC86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57" r="16351" b="10771"/>
          <a:stretch>
            <a:fillRect/>
          </a:stretch>
        </p:blipFill>
        <p:spPr>
          <a:xfrm>
            <a:off x="2862072" y="1800950"/>
            <a:ext cx="5468112" cy="45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3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16A72-52A9-AEDE-8D95-05A66442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C548-58B8-7ED0-9E95-FB7372C2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427672"/>
            <a:ext cx="6625590" cy="1033463"/>
          </a:xfrm>
        </p:spPr>
        <p:txBody>
          <a:bodyPr>
            <a:normAutofit fontScale="90000"/>
          </a:bodyPr>
          <a:lstStyle/>
          <a:p>
            <a:r>
              <a:rPr lang="en-US" dirty="0"/>
              <a:t>5.</a:t>
            </a:r>
            <a:r>
              <a:rPr lang="en-IN" dirty="0"/>
              <a:t> Experimental setup &amp;</a:t>
            </a:r>
            <a:br>
              <a:rPr lang="en-IN" dirty="0"/>
            </a:br>
            <a:r>
              <a:rPr lang="en-IN" dirty="0"/>
              <a:t>     Dataset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A05DDBD-5887-F61D-CF5A-47856A2EF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7D9E144-FA2F-3FE5-0BC2-DC120313F83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40712" y="1888808"/>
            <a:ext cx="11333584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8732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F68C7-9A09-D71D-9F70-45169F12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61B8-0578-A838-E7F9-A5FA2FA1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427672"/>
            <a:ext cx="6625590" cy="1033463"/>
          </a:xfrm>
        </p:spPr>
        <p:txBody>
          <a:bodyPr>
            <a:normAutofit fontScale="90000"/>
          </a:bodyPr>
          <a:lstStyle/>
          <a:p>
            <a:r>
              <a:rPr lang="en-US" dirty="0"/>
              <a:t>5.</a:t>
            </a:r>
            <a:r>
              <a:rPr lang="en-IN" dirty="0"/>
              <a:t> Experimental setup &amp;</a:t>
            </a:r>
            <a:br>
              <a:rPr lang="en-IN" dirty="0"/>
            </a:br>
            <a:r>
              <a:rPr lang="en-IN" dirty="0"/>
              <a:t>     Dataset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596FE3C0-1C7F-8800-91E2-41C89F6A0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FBBD155-73B7-C452-C65E-3F66AA9C235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04EC2E-8C66-29F1-041E-6899F9C38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1941767"/>
            <a:ext cx="1351788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</p:spTree>
    <p:extLst>
      <p:ext uri="{BB962C8B-B14F-4D97-AF65-F5344CB8AC3E}">
        <p14:creationId xmlns:p14="http://schemas.microsoft.com/office/powerpoint/2010/main" val="274244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D325-0371-1F2F-8568-AA050D36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261B-1D69-FBA8-D46C-6BED2937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427672"/>
            <a:ext cx="6625590" cy="1033463"/>
          </a:xfrm>
        </p:spPr>
        <p:txBody>
          <a:bodyPr>
            <a:normAutofit fontScale="90000"/>
          </a:bodyPr>
          <a:lstStyle/>
          <a:p>
            <a:r>
              <a:rPr lang="en-US" dirty="0"/>
              <a:t>6.</a:t>
            </a:r>
            <a:r>
              <a:rPr lang="en-IN" dirty="0"/>
              <a:t> Implementation &amp;</a:t>
            </a:r>
            <a:br>
              <a:rPr lang="en-IN" dirty="0"/>
            </a:br>
            <a:r>
              <a:rPr lang="en-IN" dirty="0"/>
              <a:t>     Features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99B6502-6BE6-5F18-BE44-3A78C1F05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ACE6B97-3644-F9E7-409D-A33A82083A8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B5408F-C9E5-77BF-7457-2B04F32B2DF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78749" y="8141263"/>
            <a:ext cx="1363023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99BACDE-B6DC-743B-90F1-1DCD6B9A0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2695292"/>
            <a:ext cx="747654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loading using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Librosa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SoundFile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YAMNet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embedding extraction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Wav2Vec2 inference pipeline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Class-weighted prediction handling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Ensemble probability fusion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Confusion matrix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15165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09C5-464D-950D-DC79-0FF51027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F0D7-AC65-F934-08ED-9E33B6633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10432"/>
            <a:ext cx="6625590" cy="1033463"/>
          </a:xfrm>
        </p:spPr>
        <p:txBody>
          <a:bodyPr>
            <a:normAutofit/>
          </a:bodyPr>
          <a:lstStyle/>
          <a:p>
            <a:r>
              <a:rPr lang="en-US" dirty="0"/>
              <a:t>7.</a:t>
            </a:r>
            <a:r>
              <a:rPr lang="en-IN" dirty="0"/>
              <a:t> Results 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8256E393-1217-0808-3168-F49FEDC08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CC8998D-012E-B69B-61F0-5B852F9DA99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FA3111-83D1-2F28-7CF4-2136B19E789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78749" y="8141263"/>
            <a:ext cx="1363023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0214A2F-D7FD-8CDC-6ED0-B67B8CCAB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25" y="2158496"/>
            <a:ext cx="747654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Baseline Performance: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Accuracy: </a:t>
            </a:r>
            <a:r>
              <a:rPr lang="en-US" sz="2400" b="1" dirty="0"/>
              <a:t>38%</a:t>
            </a:r>
            <a:br>
              <a:rPr lang="en-US" sz="2400" b="1" dirty="0"/>
            </a:br>
            <a:endParaRPr lang="en-US" sz="2400" dirty="0"/>
          </a:p>
          <a:p>
            <a:r>
              <a:rPr lang="en-US" sz="2400" b="1" dirty="0"/>
              <a:t>Observations: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Model performs moderately on cry and normal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Completely fails on scream classification (0% recall)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 Indicates lack of feature discrimination and training</a:t>
            </a:r>
          </a:p>
        </p:txBody>
      </p:sp>
    </p:spTree>
    <p:extLst>
      <p:ext uri="{BB962C8B-B14F-4D97-AF65-F5344CB8AC3E}">
        <p14:creationId xmlns:p14="http://schemas.microsoft.com/office/powerpoint/2010/main" val="721436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2B3F-278D-FE5F-6F60-CA2DFA92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9FDA-7B91-ED90-4748-292BA4EC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95" y="119762"/>
            <a:ext cx="6625590" cy="1033463"/>
          </a:xfrm>
        </p:spPr>
        <p:txBody>
          <a:bodyPr>
            <a:normAutofit/>
          </a:bodyPr>
          <a:lstStyle/>
          <a:p>
            <a:r>
              <a:rPr lang="en-US" dirty="0"/>
              <a:t>7.</a:t>
            </a:r>
            <a:r>
              <a:rPr lang="en-IN" dirty="0"/>
              <a:t> Results 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5381E14-F7F8-CB40-5892-BB9CFB0A7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5E63036-8393-C2A2-0D40-CAB51F408F5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5BAB98-7FB5-70DA-BCA0-A45EEF0A4F4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78749" y="8141263"/>
            <a:ext cx="1363023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5A77B1-CABA-6431-587A-6754FF657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5528"/>
            <a:ext cx="12192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64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3252-81D0-B0BF-CAEC-9797A24C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E2C2-2DA8-B8EB-6BC9-878DE7FE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22" y="542896"/>
            <a:ext cx="6625590" cy="1033463"/>
          </a:xfrm>
        </p:spPr>
        <p:txBody>
          <a:bodyPr>
            <a:normAutofit/>
          </a:bodyPr>
          <a:lstStyle/>
          <a:p>
            <a:r>
              <a:rPr lang="en-US" dirty="0"/>
              <a:t>8.</a:t>
            </a:r>
            <a:r>
              <a:rPr lang="en-IN" dirty="0"/>
              <a:t> Challenges &amp;Limitations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16153F8B-5A55-9088-8BB6-1B48ABCF7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79AFAB4-EE00-072C-E768-3A45141A005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6252AB-FCD9-F5E2-F5A5-7913E09C1C7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78749" y="8141263"/>
            <a:ext cx="1363023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6B75FFB-A1A3-A056-1747-E55510FA6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83" y="2573164"/>
            <a:ext cx="13013094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 dataset size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similarity between classes (cry vs scream)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model training in baseline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Absence of data augmentation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Over-reliance on pretrained features</a:t>
            </a:r>
          </a:p>
        </p:txBody>
      </p:sp>
    </p:spTree>
    <p:extLst>
      <p:ext uri="{BB962C8B-B14F-4D97-AF65-F5344CB8AC3E}">
        <p14:creationId xmlns:p14="http://schemas.microsoft.com/office/powerpoint/2010/main" val="1455870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F917-525D-AA65-1CB9-7663D91A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AFE4-06F8-77B7-571D-91B73152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30" y="516730"/>
            <a:ext cx="6625590" cy="1033463"/>
          </a:xfrm>
        </p:spPr>
        <p:txBody>
          <a:bodyPr>
            <a:normAutofit/>
          </a:bodyPr>
          <a:lstStyle/>
          <a:p>
            <a:r>
              <a:rPr lang="en-US" dirty="0"/>
              <a:t>9.</a:t>
            </a:r>
            <a:r>
              <a:rPr lang="en-IN" dirty="0"/>
              <a:t> Conclusion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E4EA25AD-1150-9261-D301-FBDEC2C15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B825C32-5EE8-228C-321A-50246BBDA3A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F5873-A546-BD5D-3696-C0B75F161E8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78749" y="8141263"/>
            <a:ext cx="1363023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8CE5EB7-E0B7-CD83-FAEF-FADE63E9F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30" y="2258666"/>
            <a:ext cx="1117493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proposed ensemble framework highlights the importance of combining acoustic and contextual representations for robust infant audio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current baseline performance (38%) reveals critical gaps in training and feature learning, which will be addressed through fine-tuning, augmentation, and optimization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Future improvements are expected to achieve </a:t>
            </a:r>
            <a:r>
              <a:rPr lang="en-US" sz="2400" b="1" dirty="0"/>
              <a:t>85–92% </a:t>
            </a:r>
            <a:r>
              <a:rPr lang="en-US" sz="2400" dirty="0"/>
              <a:t>accuracy, making the system suitable for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6738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BAEA-5210-64A1-B321-A07B06A6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822F-ABCC-D608-EC97-7B54DF0F0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30" y="516730"/>
            <a:ext cx="6625590" cy="1033463"/>
          </a:xfrm>
        </p:spPr>
        <p:txBody>
          <a:bodyPr>
            <a:normAutofit/>
          </a:bodyPr>
          <a:lstStyle/>
          <a:p>
            <a:r>
              <a:rPr lang="en-US" dirty="0"/>
              <a:t>10.</a:t>
            </a:r>
            <a:r>
              <a:rPr lang="en-IN" dirty="0"/>
              <a:t> References  </a:t>
            </a:r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E542D64-BE97-1384-41FF-5F02303BD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FF3A2D5-BE8E-9485-A795-ABC468DBD37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28425" y="7598366"/>
            <a:ext cx="12566111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Dataset:</a:t>
            </a:r>
            <a:br>
              <a:rPr lang="en-US" sz="2400" dirty="0"/>
            </a:br>
            <a:r>
              <a:rPr lang="en-US" sz="2400" dirty="0"/>
              <a:t>Custom infant audio dataset containing 203 samples</a:t>
            </a:r>
          </a:p>
          <a:p>
            <a:endParaRPr lang="en-US" sz="2400" dirty="0"/>
          </a:p>
          <a:p>
            <a:r>
              <a:rPr lang="en-US" sz="2400" b="1" dirty="0"/>
              <a:t>Class Distribution: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Cry: 63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Scream: 72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Normal: 68</a:t>
            </a:r>
          </a:p>
          <a:p>
            <a:endParaRPr lang="en-US" sz="2400" dirty="0"/>
          </a:p>
          <a:p>
            <a:r>
              <a:rPr lang="en-US" sz="2400" b="1" dirty="0"/>
              <a:t>Configuration: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 rate: 16 kHz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weights applied to handle imbalance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858650-C782-E232-D5F9-C00829DD26C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78749" y="8141263"/>
            <a:ext cx="1363023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using: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TensorFlow Hub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HuggingFace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F1-score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model evaluated 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without training (baseline ensemble)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7546097-1058-41C6-1B9A-E793BAA2C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30" y="1837779"/>
            <a:ext cx="1101284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400" dirty="0">
                <a:latin typeface="Google Sans Text"/>
              </a:rPr>
              <a:t>A. </a:t>
            </a:r>
            <a:r>
              <a:rPr lang="en-US" sz="1400" dirty="0" err="1">
                <a:latin typeface="Google Sans Text"/>
              </a:rPr>
              <a:t>Baevski</a:t>
            </a:r>
            <a:r>
              <a:rPr lang="en-US" sz="1400" dirty="0">
                <a:latin typeface="Google Sans Text"/>
              </a:rPr>
              <a:t>, Y. Zhou, A. Mohamed, and M. Auli, "wav2vec 2.0: A Framework for Self-Supervised Learning of Speech Representations," in Advances in Neural Information Processing Systems (</a:t>
            </a:r>
            <a:r>
              <a:rPr lang="en-US" sz="1400" dirty="0" err="1">
                <a:latin typeface="Google Sans Text"/>
              </a:rPr>
              <a:t>NeurIPS</a:t>
            </a:r>
            <a:r>
              <a:rPr lang="en-US" sz="1400" dirty="0">
                <a:latin typeface="Google Sans Text"/>
              </a:rPr>
              <a:t>), vol. 33, pp. 12449-12460, 2020.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S. Hershey et al., "CNN architectures for large-scale audio classification," in Proc. IEEE Int. Conf. </a:t>
            </a:r>
            <a:r>
              <a:rPr lang="en-IN" sz="1400" dirty="0" err="1">
                <a:latin typeface="Google Sans Text"/>
              </a:rPr>
              <a:t>Acoust</a:t>
            </a:r>
            <a:r>
              <a:rPr lang="en-IN" sz="1400" dirty="0">
                <a:latin typeface="Google Sans Text"/>
              </a:rPr>
              <a:t>., Speech, Signal Process. (ICASSP), 2017, pp. 131-135.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D. </a:t>
            </a:r>
            <a:r>
              <a:rPr lang="en-IN" sz="1400" dirty="0" err="1">
                <a:latin typeface="Google Sans Text"/>
              </a:rPr>
              <a:t>Micheloni</a:t>
            </a:r>
            <a:r>
              <a:rPr lang="en-IN" sz="1400" dirty="0">
                <a:latin typeface="Google Sans Text"/>
              </a:rPr>
              <a:t> et al., "Infant Cry Classification Using Deep Learning Technologies," IEEE Access, vol. 9, pp. 11543-11553, 2021.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T. G. Dietterich, "Ensemble Methods in Machine Learning," in Proc. Int. Workshop Multiple Classifier Syst., 2000, pp. 1-15.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K. R. </a:t>
            </a:r>
            <a:r>
              <a:rPr lang="en-IN" sz="1400" dirty="0" err="1">
                <a:latin typeface="Google Sans Text"/>
              </a:rPr>
              <a:t>Phursule</a:t>
            </a:r>
            <a:r>
              <a:rPr lang="en-IN" sz="1400" dirty="0">
                <a:latin typeface="Google Sans Text"/>
              </a:rPr>
              <a:t> et al., "Decoding Infant Cry Using Audio Data and Machine Learning Approaches," National College of Ireland (NORMA), pp. 1-10, Jan. 2025.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A. T. Wibowo et al., "Data Augmentation Strategies on Spectrogram Features for Infant Cry Classification Using Convolutional Neural Networks," </a:t>
            </a:r>
            <a:r>
              <a:rPr lang="en-IN" sz="1400" dirty="0" err="1">
                <a:latin typeface="Google Sans Text"/>
              </a:rPr>
              <a:t>Innovatics</a:t>
            </a:r>
            <a:r>
              <a:rPr lang="en-IN" sz="1400" dirty="0">
                <a:latin typeface="Google Sans Text"/>
              </a:rPr>
              <a:t>, vol. 7, no. 2, Nov. 2025.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M. A. F. Caselli, "Automated Infant Cry Analysis," M.S. thesis, Dept. Inf. Eng., Univ. of Padova, Padova, Italy, 2024.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F. Alshehri et al., "An Analytical Study of Data Augmentation Across Audio Representations for Infant Cry Classification," Int. J. Adv. </a:t>
            </a:r>
            <a:r>
              <a:rPr lang="en-IN" sz="1400" dirty="0" err="1">
                <a:latin typeface="Google Sans Text"/>
              </a:rPr>
              <a:t>Comput</a:t>
            </a:r>
            <a:r>
              <a:rPr lang="en-IN" sz="1400" dirty="0">
                <a:latin typeface="Google Sans Text"/>
              </a:rPr>
              <a:t>. Sci. Appl., vol. 17, no. 2, Feb. 2026.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S. R. N. B. S. Ahmad et al., "Baby Cry Classification Using Ensemble Learning and Whisper Method Comparison," J. Appl. Informatics </a:t>
            </a:r>
            <a:r>
              <a:rPr lang="en-IN" sz="1400" dirty="0" err="1">
                <a:latin typeface="Google Sans Text"/>
              </a:rPr>
              <a:t>Comput</a:t>
            </a:r>
            <a:r>
              <a:rPr lang="en-IN" sz="1400" dirty="0">
                <a:latin typeface="Google Sans Text"/>
              </a:rPr>
              <a:t>. (JAIC), vol. 9, no. 2, Nov. 2025.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M. F. A. Fauzi et al., "Advances in Infant Cry Paralinguistic Classification—Methods, Implementation, and Applications: Systematic Review," JMIR </a:t>
            </a:r>
            <a:r>
              <a:rPr lang="en-IN" sz="1400" dirty="0" err="1">
                <a:latin typeface="Google Sans Text"/>
              </a:rPr>
              <a:t>Rehabil</a:t>
            </a:r>
            <a:r>
              <a:rPr lang="en-IN" sz="1400" dirty="0">
                <a:latin typeface="Google Sans Text"/>
              </a:rPr>
              <a:t>. Assist. Technol., vol. 12, e69457, Apr. 2025.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I. Iversen, "</a:t>
            </a:r>
            <a:r>
              <a:rPr lang="en-IN" sz="1400" dirty="0" err="1">
                <a:latin typeface="Google Sans Text"/>
              </a:rPr>
              <a:t>Audiomentations</a:t>
            </a:r>
            <a:r>
              <a:rPr lang="en-IN" sz="1400" dirty="0">
                <a:latin typeface="Google Sans Text"/>
              </a:rPr>
              <a:t>: A Python library for audio data augmentation," [Online]. Available: https://github.com/iver56/audiomentations. [Accessed: Mar. 2026].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400" dirty="0">
                <a:latin typeface="Google Sans Text"/>
              </a:rPr>
              <a:t>F. Pedregosa et al., "Scikit-learn: Machine Learning in Python," J. Mach. Learn. Res., vol. 12, pp. 2825 2830, 2011.</a:t>
            </a:r>
            <a:endParaRPr lang="en-US" altLang="en-US" sz="14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140354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068-29B0-E02B-42F5-4E70D285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0355-EAFD-C3CB-BAF6-3FAF36CA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10364452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                                     Thank you and QA</a:t>
            </a:r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96ED3AE-21A9-AAF9-6E5D-6E49D10BB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385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</Words>
  <Application>Microsoft Office PowerPoint</Application>
  <PresentationFormat>Widescreen</PresentationFormat>
  <Paragraphs>267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Google Sans Text</vt:lpstr>
      <vt:lpstr>Wingdings</vt:lpstr>
      <vt:lpstr>Retrospect</vt:lpstr>
      <vt:lpstr>Developing an Ensemble Model for Detecting Infant Cries, Screams, and Normal Utterances</vt:lpstr>
      <vt:lpstr>List of contents</vt:lpstr>
      <vt:lpstr>1. Introduction</vt:lpstr>
      <vt:lpstr>2. Literature Review </vt:lpstr>
      <vt:lpstr>2. Literature Review </vt:lpstr>
      <vt:lpstr>3. Proposed Solution</vt:lpstr>
      <vt:lpstr>4. Methodology</vt:lpstr>
      <vt:lpstr>4. Methodology</vt:lpstr>
      <vt:lpstr>5. Experimental setup &amp;      Dataset </vt:lpstr>
      <vt:lpstr>5. Experimental setup &amp;      Dataset </vt:lpstr>
      <vt:lpstr>6. Implementation &amp;      Features </vt:lpstr>
      <vt:lpstr>7. Results  </vt:lpstr>
      <vt:lpstr>7. Results  </vt:lpstr>
      <vt:lpstr>8. Challenges &amp;Limitations </vt:lpstr>
      <vt:lpstr>9. Conclusion </vt:lpstr>
      <vt:lpstr>10. 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AARUSHI GARG - 122122039 - MITBLR</cp:lastModifiedBy>
  <cp:revision>2</cp:revision>
  <dcterms:modified xsi:type="dcterms:W3CDTF">2026-03-20T08:28:45Z</dcterms:modified>
</cp:coreProperties>
</file>